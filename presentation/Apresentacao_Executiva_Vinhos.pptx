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Oval 18"/>
          <p:cNvSpPr/>
          <p:nvPr/>
        </p:nvSpPr>
        <p:spPr>
          <a:xfrm>
            <a:off x="9802368" y="-1444752"/>
            <a:ext cx="4370832" cy="4370832"/>
          </a:xfrm>
          <a:prstGeom prst="ellipse">
            <a:avLst/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E5A63"/>
                </a:solidFill>
                <a:latin typeface="Noto Sans"/>
              </a:rPr>
              <a:t>TECH CHALLENGE ·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513832"/>
            <a:ext cx="11430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0" b="1" i="0">
                <a:solidFill>
                  <a:srgbClr val="E5EDEB"/>
                </a:solidFill>
                <a:latin typeface="Noto San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6345936"/>
            <a:ext cx="10698480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64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0E5A63"/>
                </a:solidFill>
                <a:latin typeface="Noto Sans"/>
              </a:rPr>
              <a:t>WINE QUALITY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64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i="0">
                <a:solidFill>
                  <a:srgbClr val="526469"/>
                </a:solidFill>
                <a:latin typeface="Noto San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950976"/>
            <a:ext cx="1874519" cy="320040"/>
          </a:xfrm>
          <a:prstGeom prst="roundRect">
            <a:avLst>
              <a:gd name="adj" fmla="val 8000"/>
            </a:avLst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010412"/>
            <a:ext cx="16459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744600"/>
                </a:solidFill>
                <a:latin typeface="Noto Sans"/>
              </a:rPr>
              <a:t>Machine Learning aplicado à qualidade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90525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132326"/>
                </a:solidFill>
                <a:latin typeface="Noto Sans"/>
              </a:rPr>
              <a:t>Como antecipar </a:t>
            </a:r>
            <a:r>
              <a:rPr sz="3500" b="1">
                <a:solidFill>
                  <a:srgbClr val="0E5A63"/>
                </a:solidFill>
                <a:latin typeface="Noto Sans"/>
              </a:rPr>
              <a:t>vinhos de alta qualidade</a:t>
            </a:r>
            <a:r>
              <a:rPr sz="3500" b="1">
                <a:solidFill>
                  <a:srgbClr val="132326"/>
                </a:solidFill>
                <a:latin typeface="Noto Sans"/>
              </a:rPr>
              <a:t> a partir da química do produto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127248"/>
            <a:ext cx="75895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26469"/>
                </a:solidFill>
                <a:latin typeface="Noto Sans"/>
              </a:rPr>
              <a:t>Uma solução de apoio à decisão para priorizar lotes e orientar o monitoramento do processo produtivo.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4005072"/>
            <a:ext cx="6565392" cy="1005840"/>
          </a:xfrm>
          <a:prstGeom prst="rect">
            <a:avLst/>
          </a:prstGeom>
          <a:solidFill>
            <a:srgbClr val="152A2F"/>
          </a:solidFill>
          <a:ln>
            <a:solidFill>
              <a:srgbClr val="152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233672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1.018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590288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C9D8D7"/>
                </a:solidFill>
                <a:latin typeface="Noto Sans"/>
              </a:rPr>
              <a:t>amostras após limpeza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233672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13,5%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590288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C9D8D7"/>
                </a:solidFill>
                <a:latin typeface="Noto Sans"/>
              </a:rPr>
              <a:t>vinhos de alta qualidade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4233672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4590288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C9D8D7"/>
                </a:solidFill>
                <a:latin typeface="Noto Sans"/>
              </a:rPr>
              <a:t>modelos comparados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Oval 22"/>
          <p:cNvSpPr/>
          <p:nvPr/>
        </p:nvSpPr>
        <p:spPr>
          <a:xfrm>
            <a:off x="9802368" y="-1444752"/>
            <a:ext cx="4370832" cy="4370832"/>
          </a:xfrm>
          <a:prstGeom prst="ellipse">
            <a:avLst/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E5A63"/>
                </a:solidFill>
                <a:latin typeface="Noto Sans"/>
              </a:rPr>
              <a:t>O DESAFIO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513832"/>
            <a:ext cx="11430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0" b="1" i="0">
                <a:solidFill>
                  <a:srgbClr val="E5EDEB"/>
                </a:solidFill>
                <a:latin typeface="Noto San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6345936"/>
            <a:ext cx="10698480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64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0E5A63"/>
                </a:solidFill>
                <a:latin typeface="Noto Sans"/>
              </a:rP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64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i="0">
                <a:solidFill>
                  <a:srgbClr val="526469"/>
                </a:solidFill>
                <a:latin typeface="Noto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033271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32326"/>
                </a:solidFill>
                <a:latin typeface="Noto Sans"/>
              </a:rPr>
              <a:t>A avaliação sensorial é indispensável, mas pode ser </a:t>
            </a:r>
            <a:r>
              <a:rPr sz="2800" b="1">
                <a:solidFill>
                  <a:srgbClr val="0E5A63"/>
                </a:solidFill>
                <a:latin typeface="Noto Sans"/>
              </a:rPr>
              <a:t>antecipada por sinais objetivos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94560"/>
            <a:ext cx="3401568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94560"/>
            <a:ext cx="3401568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414015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Decisão mais cedo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07208"/>
            <a:ext cx="2999232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Características físico-químicas permitem estimar o potencial de qualidade antes da avaliação final.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2194560"/>
            <a:ext cx="3401568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2194560"/>
            <a:ext cx="3401568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414015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Foco nos melhores lotes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807208"/>
            <a:ext cx="2999232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O modelo ajuda a priorizar inspeções e análises mais profundas onde há maior potencial.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2194560"/>
            <a:ext cx="3401568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194560"/>
            <a:ext cx="3401568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414015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Processo mais consistente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807208"/>
            <a:ext cx="2999232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Indicadores químicos apoiam o controle de variações relevantes durante a produção.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617720"/>
            <a:ext cx="10661904" cy="658368"/>
          </a:xfrm>
          <a:prstGeom prst="rect">
            <a:avLst/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818888"/>
            <a:ext cx="10195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5E4822"/>
                </a:solidFill>
                <a:latin typeface="Noto Sans"/>
              </a:rPr>
              <a:t>Objetivo da classificação: identificar vinhos com nota sensorial maior ou igual a 7 — classificados como alta qualidade.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Oval 30"/>
          <p:cNvSpPr/>
          <p:nvPr/>
        </p:nvSpPr>
        <p:spPr>
          <a:xfrm>
            <a:off x="9802368" y="-1444752"/>
            <a:ext cx="4370832" cy="4370832"/>
          </a:xfrm>
          <a:prstGeom prst="ellipse">
            <a:avLst/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E5A63"/>
                </a:solidFill>
                <a:latin typeface="Noto Sans"/>
              </a:rPr>
              <a:t>BASE E ABORDAGEM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513832"/>
            <a:ext cx="11430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0" b="1" i="0">
                <a:solidFill>
                  <a:srgbClr val="E5EDEB"/>
                </a:solidFill>
                <a:latin typeface="Noto San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6345936"/>
            <a:ext cx="10698480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64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0E5A63"/>
                </a:solidFill>
                <a:latin typeface="Noto Sans"/>
              </a:rPr>
              <a:t>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64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i="0">
                <a:solidFill>
                  <a:srgbClr val="526469"/>
                </a:solidFill>
                <a:latin typeface="Noto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033271"/>
            <a:ext cx="9235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132326"/>
                </a:solidFill>
                <a:latin typeface="Noto Sans"/>
              </a:rPr>
              <a:t>O desafio exige precisão porque </a:t>
            </a:r>
            <a:r>
              <a:rPr sz="2900" b="1">
                <a:solidFill>
                  <a:srgbClr val="0E5A63"/>
                </a:solidFill>
                <a:latin typeface="Noto Sans"/>
              </a:rPr>
              <a:t>vinhos excelentes são raros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4956048" cy="2523744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774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326"/>
                </a:solidFill>
                <a:latin typeface="Noto Sans"/>
              </a:rPr>
              <a:t>Composição da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926080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32326"/>
                </a:solidFill>
                <a:latin typeface="Noto Sans"/>
              </a:rPr>
              <a:t>Baixa/Média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935224"/>
            <a:ext cx="3337560" cy="182880"/>
          </a:xfrm>
          <a:prstGeom prst="rect">
            <a:avLst/>
          </a:prstGeom>
          <a:solidFill>
            <a:srgbClr val="E9EEEE"/>
          </a:solidFill>
          <a:ln>
            <a:solidFill>
              <a:srgbClr val="E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2935224"/>
            <a:ext cx="3154680" cy="182880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926080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 i="0">
                <a:solidFill>
                  <a:srgbClr val="132326"/>
                </a:solidFill>
                <a:latin typeface="Noto Sans"/>
              </a:rPr>
              <a:t>86,5%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566160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32326"/>
                </a:solidFill>
                <a:latin typeface="Noto Sans"/>
              </a:rPr>
              <a:t>Alta qualidade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575303"/>
            <a:ext cx="3337560" cy="182880"/>
          </a:xfrm>
          <a:prstGeom prst="rect">
            <a:avLst/>
          </a:prstGeom>
          <a:solidFill>
            <a:srgbClr val="E9EEEE"/>
          </a:solidFill>
          <a:ln>
            <a:solidFill>
              <a:srgbClr val="E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31720" y="3575303"/>
            <a:ext cx="493776" cy="182880"/>
          </a:xfrm>
          <a:prstGeom prst="rect">
            <a:avLst/>
          </a:prstGeom>
          <a:solidFill>
            <a:srgbClr val="D99C43"/>
          </a:solidFill>
          <a:ln>
            <a:solidFill>
              <a:srgbClr val="D99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3566160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50" b="1" i="0">
                <a:solidFill>
                  <a:srgbClr val="132326"/>
                </a:solidFill>
                <a:latin typeface="Noto Sans"/>
              </a:rPr>
              <a:t>13,5%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087368"/>
            <a:ext cx="4251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26469"/>
                </a:solidFill>
                <a:latin typeface="Noto Sans"/>
              </a:rPr>
              <a:t>A minoria positiva exige métricas além da acurácia para evitar uma falsa sensação de desempenho.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139696"/>
            <a:ext cx="5303520" cy="2523744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377440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326"/>
                </a:solidFill>
                <a:latin typeface="Noto Sans"/>
              </a:rPr>
              <a:t>Controles metodológicos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889504"/>
            <a:ext cx="82296" cy="82296"/>
          </a:xfrm>
          <a:prstGeom prst="roundRect">
            <a:avLst>
              <a:gd name="adj" fmla="val 8000"/>
            </a:avLst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807208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132326"/>
                </a:solidFill>
                <a:latin typeface="Noto Sans"/>
              </a:rPr>
              <a:t>Duplicidades exatas removidas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73552"/>
            <a:ext cx="82296" cy="82296"/>
          </a:xfrm>
          <a:prstGeom prst="roundRect">
            <a:avLst>
              <a:gd name="adj" fmla="val 8000"/>
            </a:avLst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191256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132326"/>
                </a:solidFill>
                <a:latin typeface="Noto Sans"/>
              </a:rPr>
              <a:t>Separação treino/teste com estratificação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657600"/>
            <a:ext cx="82296" cy="82296"/>
          </a:xfrm>
          <a:prstGeom prst="roundRect">
            <a:avLst>
              <a:gd name="adj" fmla="val 8000"/>
            </a:avLst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575303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132326"/>
                </a:solidFill>
                <a:latin typeface="Noto Sans"/>
              </a:rPr>
              <a:t>Pesos de classe nos modelos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041648"/>
            <a:ext cx="82296" cy="82296"/>
          </a:xfrm>
          <a:prstGeom prst="roundRect">
            <a:avLst>
              <a:gd name="adj" fmla="val 8000"/>
            </a:avLst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959352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132326"/>
                </a:solidFill>
                <a:latin typeface="Noto Sans"/>
              </a:rPr>
              <a:t>Validação cruzada de 5 folds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084064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526469"/>
                </a:solidFill>
                <a:latin typeface="Noto Sans"/>
              </a:rPr>
              <a:t>A solução foi desenhada para reconhecer a classe minoritária sem perder a visão do desempenho global.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Oval 26"/>
          <p:cNvSpPr/>
          <p:nvPr/>
        </p:nvSpPr>
        <p:spPr>
          <a:xfrm>
            <a:off x="9802368" y="-1444752"/>
            <a:ext cx="4370832" cy="4370832"/>
          </a:xfrm>
          <a:prstGeom prst="ellipse">
            <a:avLst/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E5A63"/>
                </a:solidFill>
                <a:latin typeface="Noto Sans"/>
              </a:rPr>
              <a:t>PRINCIPAIS 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513832"/>
            <a:ext cx="11430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0" b="1" i="0">
                <a:solidFill>
                  <a:srgbClr val="E5EDEB"/>
                </a:solidFill>
                <a:latin typeface="Noto San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6345936"/>
            <a:ext cx="10698480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64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0E5A63"/>
                </a:solidFill>
                <a:latin typeface="Noto Sans"/>
              </a:rPr>
              <a:t>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64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i="0">
                <a:solidFill>
                  <a:srgbClr val="526469"/>
                </a:solidFill>
                <a:latin typeface="Noto San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033271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32326"/>
                </a:solidFill>
                <a:latin typeface="Noto Sans"/>
              </a:rPr>
              <a:t>Quatro variáveis concentram os </a:t>
            </a:r>
            <a:r>
              <a:rPr sz="2800" b="1">
                <a:solidFill>
                  <a:srgbClr val="0E5A63"/>
                </a:solidFill>
                <a:latin typeface="Noto Sans"/>
              </a:rPr>
              <a:t>sinais mais relevantes</a:t>
            </a:r>
            <a:r>
              <a:rPr sz="2800" b="1">
                <a:solidFill>
                  <a:srgbClr val="132326"/>
                </a:solidFill>
                <a:latin typeface="Noto Sans"/>
              </a:rPr>
              <a:t> para a predição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48840"/>
            <a:ext cx="5065776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5065776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368296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1 · Sulfatos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61488"/>
            <a:ext cx="466344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Maior importância preditiva observada. Deve ser acompanhado como sinal de processo.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2148840"/>
            <a:ext cx="5065776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48840"/>
            <a:ext cx="5065776" cy="41148"/>
          </a:xfrm>
          <a:prstGeom prst="rect">
            <a:avLst/>
          </a:prstGeom>
          <a:solidFill>
            <a:srgbClr val="D99C43"/>
          </a:solidFill>
          <a:ln>
            <a:solidFill>
              <a:srgbClr val="D99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368296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2 · Teor alcoólico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761488"/>
            <a:ext cx="466344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Segundo fator mais informativo na diferenciação entre as classes de qualidade.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520440"/>
            <a:ext cx="5065776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520440"/>
            <a:ext cx="5065776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39896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3 · Ácido cítrico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133088"/>
            <a:ext cx="466344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Contribui para explicar diferenças no perfil químico associado à alta qualidade.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3520440"/>
            <a:ext cx="5065776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520440"/>
            <a:ext cx="5065776" cy="41148"/>
          </a:xfrm>
          <a:prstGeom prst="rect">
            <a:avLst/>
          </a:prstGeom>
          <a:solidFill>
            <a:srgbClr val="D99C43"/>
          </a:solidFill>
          <a:ln>
            <a:solidFill>
              <a:srgbClr val="D99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739896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4 · Acidez volátil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4133088"/>
            <a:ext cx="466344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Também aparece como variável relevante e deve ser monitorada em conjunto com os demais indicadores.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4983480"/>
            <a:ext cx="10661904" cy="667512"/>
          </a:xfrm>
          <a:prstGeom prst="rect">
            <a:avLst/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175504"/>
            <a:ext cx="10195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5E4822"/>
                </a:solidFill>
                <a:latin typeface="Noto Sans"/>
              </a:rPr>
              <a:t>Leitura correta: importância preditiva mostra quais variáveis ajudam o modelo a classificar; ela não prova que alterar um único fator causará melhoria sensorial.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Oval 32"/>
          <p:cNvSpPr/>
          <p:nvPr/>
        </p:nvSpPr>
        <p:spPr>
          <a:xfrm>
            <a:off x="9802368" y="-1444752"/>
            <a:ext cx="4370832" cy="4370832"/>
          </a:xfrm>
          <a:prstGeom prst="ellipse">
            <a:avLst/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E5A63"/>
                </a:solidFill>
                <a:latin typeface="Noto Sans"/>
              </a:rPr>
              <a:t>COMPARAÇÃO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513832"/>
            <a:ext cx="11430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0" b="1" i="0">
                <a:solidFill>
                  <a:srgbClr val="E5EDEB"/>
                </a:solidFill>
                <a:latin typeface="Noto San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6345936"/>
            <a:ext cx="10698480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64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0E5A63"/>
                </a:solidFill>
                <a:latin typeface="Noto Sans"/>
              </a:rPr>
              <a:t>VALIDAÇÃO CRUZADA · 5 FOLDS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64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i="0">
                <a:solidFill>
                  <a:srgbClr val="526469"/>
                </a:solidFill>
                <a:latin typeface="Noto San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033271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132326"/>
                </a:solidFill>
                <a:latin typeface="Noto Sans"/>
              </a:rPr>
              <a:t>O XGBoost entregou o melhor </a:t>
            </a:r>
            <a:r>
              <a:rPr sz="2900" b="1">
                <a:solidFill>
                  <a:srgbClr val="0E5A63"/>
                </a:solidFill>
                <a:latin typeface="Noto Sans"/>
              </a:rPr>
              <a:t>equilíbrio entre precisão e recall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48840"/>
            <a:ext cx="10661904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526469"/>
                </a:solidFill>
                <a:latin typeface="Noto Sans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395728"/>
            <a:ext cx="1143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526469"/>
                </a:solidFill>
                <a:latin typeface="Noto Sans"/>
              </a:rPr>
              <a:t>Acurácia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395728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526469"/>
                </a:solidFill>
                <a:latin typeface="Noto San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4264" y="2395728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526469"/>
                </a:solidFill>
                <a:latin typeface="Noto Sans"/>
              </a:rPr>
              <a:t>F1-score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2395728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526469"/>
                </a:solidFill>
                <a:latin typeface="Noto Sans"/>
              </a:rPr>
              <a:t>ROC-AUC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" y="3300984"/>
            <a:ext cx="9674352" cy="7315"/>
          </a:xfrm>
          <a:prstGeom prst="rect">
            <a:avLst/>
          </a:prstGeom>
          <a:solidFill>
            <a:srgbClr val="E4EAE8"/>
          </a:solidFill>
          <a:ln>
            <a:solidFill>
              <a:srgbClr val="E4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907792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326"/>
                </a:solidFill>
                <a:latin typeface="Noto Sans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907792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32326"/>
                </a:solidFill>
                <a:latin typeface="Noto Sans"/>
              </a:rPr>
              <a:t>87,4%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907792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32326"/>
                </a:solidFill>
                <a:latin typeface="Noto Sans"/>
              </a:rPr>
              <a:t>54,5%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2907792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5A63"/>
                </a:solidFill>
                <a:latin typeface="Noto Sans"/>
              </a:rPr>
              <a:t>53,9%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2907792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32326"/>
                </a:solidFill>
                <a:latin typeface="Noto Sans"/>
              </a:rPr>
              <a:t>87,3%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" y="3813048"/>
            <a:ext cx="9674352" cy="7315"/>
          </a:xfrm>
          <a:prstGeom prst="rect">
            <a:avLst/>
          </a:prstGeom>
          <a:solidFill>
            <a:srgbClr val="E4EAE8"/>
          </a:solidFill>
          <a:ln>
            <a:solidFill>
              <a:srgbClr val="E4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419856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326"/>
                </a:solidFill>
                <a:latin typeface="Noto Sans"/>
              </a:rPr>
              <a:t>Regressão Logística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3419856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32326"/>
                </a:solidFill>
                <a:latin typeface="Noto Sans"/>
              </a:rPr>
              <a:t>78,9%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419856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99C43"/>
                </a:solidFill>
                <a:latin typeface="Noto Sans"/>
              </a:rPr>
              <a:t>78,7%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3419856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32326"/>
                </a:solidFill>
                <a:latin typeface="Noto Sans"/>
              </a:rPr>
              <a:t>50,5%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3419856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32326"/>
                </a:solidFill>
                <a:latin typeface="Noto Sans"/>
              </a:rPr>
              <a:t>87,4%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3931920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326"/>
                </a:solidFill>
                <a:latin typeface="Noto Sans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393192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5A63"/>
                </a:solidFill>
                <a:latin typeface="Noto Sans"/>
              </a:rPr>
              <a:t>88,6%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931920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32326"/>
                </a:solidFill>
                <a:latin typeface="Noto Sans"/>
              </a:rPr>
              <a:t>40,0%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3931920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32326"/>
                </a:solidFill>
                <a:latin typeface="Noto Sans"/>
              </a:rPr>
              <a:t>48,2%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393192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5A63"/>
                </a:solidFill>
                <a:latin typeface="Noto Sans"/>
              </a:rPr>
              <a:t>88,2%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102352"/>
            <a:ext cx="9966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 i="0">
                <a:solidFill>
                  <a:srgbClr val="526469"/>
                </a:solidFill>
                <a:latin typeface="Noto Sans"/>
              </a:rPr>
              <a:t>A escolha considerou o F1-score, que evita favorecer um modelo que tenha boa precisão ou bom recall, mas não os dois ao mesmo tempo.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Oval 34"/>
          <p:cNvSpPr/>
          <p:nvPr/>
        </p:nvSpPr>
        <p:spPr>
          <a:xfrm>
            <a:off x="9802368" y="-1444752"/>
            <a:ext cx="4370832" cy="4370832"/>
          </a:xfrm>
          <a:prstGeom prst="ellipse">
            <a:avLst/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E5A63"/>
                </a:solidFill>
                <a:latin typeface="Noto Sans"/>
              </a:rPr>
              <a:t>RESULTADO FINAL EM DADOS NÃO VISTOS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513832"/>
            <a:ext cx="11430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0" b="1" i="0">
                <a:solidFill>
                  <a:srgbClr val="E5EDEB"/>
                </a:solidFill>
                <a:latin typeface="Noto San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6345936"/>
            <a:ext cx="10698480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64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0E5A63"/>
                </a:solidFill>
                <a:latin typeface="Noto Sans"/>
              </a:rPr>
              <a:t>PERFORMANCE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64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i="0">
                <a:solidFill>
                  <a:srgbClr val="526469"/>
                </a:solidFill>
                <a:latin typeface="Noto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033271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32326"/>
                </a:solidFill>
                <a:latin typeface="Noto Sans"/>
              </a:rPr>
              <a:t>No teste final, o modelo alcançou </a:t>
            </a:r>
            <a:r>
              <a:rPr sz="3000" b="1">
                <a:solidFill>
                  <a:srgbClr val="0E5A63"/>
                </a:solidFill>
                <a:latin typeface="Noto Sans"/>
              </a:rPr>
              <a:t>F1-score de 60,0%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228600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39696"/>
            <a:ext cx="2286000" cy="45720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68296"/>
            <a:ext cx="19568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32326"/>
                </a:solidFill>
                <a:latin typeface="Noto Sans"/>
              </a:rPr>
              <a:t>89,0%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0088"/>
            <a:ext cx="19568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26469"/>
                </a:solidFill>
                <a:latin typeface="Noto Sans"/>
              </a:rPr>
              <a:t>Acurácia geral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5264" y="2139696"/>
            <a:ext cx="228600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55264" y="2139696"/>
            <a:ext cx="2286000" cy="45720"/>
          </a:xfrm>
          <a:prstGeom prst="rect">
            <a:avLst/>
          </a:prstGeom>
          <a:solidFill>
            <a:srgbClr val="D99C43"/>
          </a:solidFill>
          <a:ln>
            <a:solidFill>
              <a:srgbClr val="D99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368296"/>
            <a:ext cx="19568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32326"/>
                </a:solidFill>
                <a:latin typeface="Noto Sans"/>
              </a:rPr>
              <a:t>58,3%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990088"/>
            <a:ext cx="19568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26469"/>
                </a:solidFill>
                <a:latin typeface="Noto Sans"/>
              </a:rPr>
              <a:t>Precisão para alta qualidade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139696"/>
            <a:ext cx="228600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2139696"/>
            <a:ext cx="2286000" cy="45720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5312" y="2368296"/>
            <a:ext cx="19568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32326"/>
                </a:solidFill>
                <a:latin typeface="Noto Sans"/>
              </a:rPr>
              <a:t>61,8%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2990088"/>
            <a:ext cx="19568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26469"/>
                </a:solidFill>
                <a:latin typeface="Noto Sans"/>
              </a:rPr>
              <a:t>Recall para alta qualidade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5" y="2139696"/>
            <a:ext cx="228600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66175" y="2139696"/>
            <a:ext cx="2286000" cy="45720"/>
          </a:xfrm>
          <a:prstGeom prst="rect">
            <a:avLst/>
          </a:prstGeom>
          <a:solidFill>
            <a:srgbClr val="D99C43"/>
          </a:solidFill>
          <a:ln>
            <a:solidFill>
              <a:srgbClr val="D99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2368296"/>
            <a:ext cx="19568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32326"/>
                </a:solidFill>
                <a:latin typeface="Noto Sans"/>
              </a:rPr>
              <a:t>91,5%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990088"/>
            <a:ext cx="19568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26469"/>
                </a:solidFill>
                <a:latin typeface="Noto Sans"/>
              </a:rPr>
              <a:t>ROC-AUC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3803904"/>
            <a:ext cx="5065776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3803904"/>
            <a:ext cx="5065776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023360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O que o recall significa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416552"/>
            <a:ext cx="46634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O modelo identifica aproximadamente 62 de cada 100 vinhos de alta qualidade presentes no conjunto de teste.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36792" y="3803904"/>
            <a:ext cx="5065776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36792" y="3803904"/>
            <a:ext cx="5065776" cy="41148"/>
          </a:xfrm>
          <a:prstGeom prst="rect">
            <a:avLst/>
          </a:prstGeom>
          <a:solidFill>
            <a:srgbClr val="D99C43"/>
          </a:solidFill>
          <a:ln>
            <a:solidFill>
              <a:srgbClr val="D99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023360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O que a precisão significa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4416552"/>
            <a:ext cx="46634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Entre os vinhos indicados como alta qualidade, cerca de 58 em cada 100 foram confirmados nessa classe.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5285232"/>
            <a:ext cx="10661904" cy="502920"/>
          </a:xfrm>
          <a:prstGeom prst="rect">
            <a:avLst/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440680"/>
            <a:ext cx="10149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70" b="1" i="0">
                <a:solidFill>
                  <a:srgbClr val="5E4822"/>
                </a:solidFill>
                <a:latin typeface="Noto Sans"/>
              </a:rPr>
              <a:t>Threshold: o limite padrão de 0,50 apresentou melhor F1-score no teste do que o limite alternativo avaliado.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Oval 29"/>
          <p:cNvSpPr/>
          <p:nvPr/>
        </p:nvSpPr>
        <p:spPr>
          <a:xfrm>
            <a:off x="9802368" y="-1444752"/>
            <a:ext cx="4370832" cy="4370832"/>
          </a:xfrm>
          <a:prstGeom prst="ellipse">
            <a:avLst/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E5A63"/>
                </a:solidFill>
                <a:latin typeface="Noto Sans"/>
              </a:rPr>
              <a:t>APLICAÇÃO NA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513832"/>
            <a:ext cx="11430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0" b="1" i="0">
                <a:solidFill>
                  <a:srgbClr val="E5EDEB"/>
                </a:solidFill>
                <a:latin typeface="Noto San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6345936"/>
            <a:ext cx="10698480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64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0E5A63"/>
                </a:solidFill>
                <a:latin typeface="Noto Sans"/>
              </a:rPr>
              <a:t>RECOMENDAÇÃO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64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i="0">
                <a:solidFill>
                  <a:srgbClr val="526469"/>
                </a:solidFill>
                <a:latin typeface="Noto San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033271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32326"/>
                </a:solidFill>
                <a:latin typeface="Noto Sans"/>
              </a:rPr>
              <a:t>O modelo deve </a:t>
            </a:r>
            <a:r>
              <a:rPr sz="2700" b="1">
                <a:solidFill>
                  <a:srgbClr val="0E5A63"/>
                </a:solidFill>
                <a:latin typeface="Noto Sans"/>
              </a:rPr>
              <a:t>priorizar atenção</a:t>
            </a:r>
            <a:r>
              <a:rPr sz="2700" b="1">
                <a:solidFill>
                  <a:srgbClr val="132326"/>
                </a:solidFill>
                <a:latin typeface="Noto Sans"/>
              </a:rPr>
              <a:t>, não substituir a avaliação do especialista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286000"/>
            <a:ext cx="24688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286000"/>
            <a:ext cx="2468880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E5A63"/>
                </a:solidFill>
                <a:latin typeface="Noto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20574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326"/>
                </a:solidFill>
                <a:latin typeface="Noto Sans"/>
              </a:rPr>
              <a:t>Capturar indicadores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01568"/>
            <a:ext cx="2084831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30" b="0" i="0">
                <a:solidFill>
                  <a:srgbClr val="526469"/>
                </a:solidFill>
                <a:latin typeface="Noto Sans"/>
              </a:rPr>
              <a:t>Registrar variáveis físico-químicas de cada lote durante a produção.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2286000"/>
            <a:ext cx="24688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2286000"/>
            <a:ext cx="2468880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54203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E5A63"/>
                </a:solidFill>
                <a:latin typeface="Not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71800"/>
            <a:ext cx="20574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326"/>
                </a:solidFill>
                <a:latin typeface="Noto Sans"/>
              </a:rPr>
              <a:t>Estimar potencial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401568"/>
            <a:ext cx="2084831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30" b="0" i="0">
                <a:solidFill>
                  <a:srgbClr val="526469"/>
                </a:solidFill>
                <a:latin typeface="Noto Sans"/>
              </a:rPr>
              <a:t>Aplicar o modelo para gerar a probabilidade de alta qualidade.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286000"/>
            <a:ext cx="24688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2286000"/>
            <a:ext cx="2468880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54203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E5A63"/>
                </a:solidFill>
                <a:latin typeface="Noto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71800"/>
            <a:ext cx="20574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326"/>
                </a:solidFill>
                <a:latin typeface="Noto Sans"/>
              </a:rPr>
              <a:t>Priorizar lotes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401568"/>
            <a:ext cx="2084831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30" b="0" i="0">
                <a:solidFill>
                  <a:srgbClr val="526469"/>
                </a:solidFill>
                <a:latin typeface="Noto Sans"/>
              </a:rPr>
              <a:t>Direcionar análises sensoriais e revisão técnica para os lotes mais promissores.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42248" y="2286000"/>
            <a:ext cx="24688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42248" y="2286000"/>
            <a:ext cx="2468880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54203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E5A63"/>
                </a:solidFill>
                <a:latin typeface="Noto Sa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971800"/>
            <a:ext cx="20574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326"/>
                </a:solidFill>
                <a:latin typeface="Noto Sans"/>
              </a:rPr>
              <a:t>Aprender com o 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401568"/>
            <a:ext cx="2084831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30" b="0" i="0">
                <a:solidFill>
                  <a:srgbClr val="526469"/>
                </a:solidFill>
                <a:latin typeface="Noto Sans"/>
              </a:rPr>
              <a:t>Comparar previsão e nota final para recalibrar a solução periodicamente.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773168"/>
            <a:ext cx="9601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43A40"/>
                </a:solidFill>
                <a:latin typeface="Noto Sans"/>
              </a:rPr>
              <a:t>“A tecnologia aumenta a capacidade de enxergar padrões; a decisão final continua orientada pelo conhecimento enológico.”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Oval 23"/>
          <p:cNvSpPr/>
          <p:nvPr/>
        </p:nvSpPr>
        <p:spPr>
          <a:xfrm>
            <a:off x="9802368" y="-1444752"/>
            <a:ext cx="4370832" cy="4370832"/>
          </a:xfrm>
          <a:prstGeom prst="ellipse">
            <a:avLst/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E5A63"/>
                </a:solidFill>
                <a:latin typeface="Noto Sans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5513832"/>
            <a:ext cx="11430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0" b="1" i="0">
                <a:solidFill>
                  <a:srgbClr val="E5EDEB"/>
                </a:solidFill>
                <a:latin typeface="Noto San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6345936"/>
            <a:ext cx="10698480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64808"/>
            <a:ext cx="4114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0E5A63"/>
                </a:solidFill>
                <a:latin typeface="Noto Sans"/>
              </a:rPr>
              <a:t>ENCERRAMENTO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64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i="0">
                <a:solidFill>
                  <a:srgbClr val="526469"/>
                </a:solidFill>
                <a:latin typeface="Noto San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033271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32326"/>
                </a:solidFill>
                <a:latin typeface="Noto Sans"/>
              </a:rPr>
              <a:t>Transformar o modelo em um </a:t>
            </a:r>
            <a:r>
              <a:rPr sz="3100" b="1">
                <a:solidFill>
                  <a:srgbClr val="0E5A63"/>
                </a:solidFill>
                <a:latin typeface="Noto Sans"/>
              </a:rPr>
              <a:t>processo contínuo de qualidade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94560"/>
            <a:ext cx="3401568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94560"/>
            <a:ext cx="3401568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414015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Validar no ambiente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07208"/>
            <a:ext cx="2999232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Testar recomendações em novos lotes e acompanhar a aderência à avaliação dos especialistas.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2194560"/>
            <a:ext cx="3401568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2194560"/>
            <a:ext cx="3401568" cy="41148"/>
          </a:xfrm>
          <a:prstGeom prst="rect">
            <a:avLst/>
          </a:prstGeom>
          <a:solidFill>
            <a:srgbClr val="D99C43"/>
          </a:solidFill>
          <a:ln>
            <a:solidFill>
              <a:srgbClr val="D99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414015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Recalibrar periodicamente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807208"/>
            <a:ext cx="2999232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Atualizar o modelo com novas safras e resultados sensoriais para reduzir perda de performance.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2194560"/>
            <a:ext cx="3401568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194560"/>
            <a:ext cx="3401568" cy="41148"/>
          </a:xfrm>
          <a:prstGeom prst="rect">
            <a:avLst/>
          </a:prstGeom>
          <a:solidFill>
            <a:srgbClr val="0E5A63"/>
          </a:solidFill>
          <a:ln>
            <a:solidFill>
              <a:srgbClr val="0E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414015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132326"/>
                </a:solidFill>
                <a:latin typeface="Noto Sans"/>
              </a:rPr>
              <a:t>Definir o custo do erro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807208"/>
            <a:ext cx="2999232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526469"/>
                </a:solidFill>
                <a:latin typeface="Noto Sans"/>
              </a:rPr>
              <a:t>Escolher o threshold conforme a prioridade: encontrar mais bons vinhos ou reduzir falsos positivos.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599432"/>
            <a:ext cx="9784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 i="0">
                <a:solidFill>
                  <a:srgbClr val="526469"/>
                </a:solidFill>
                <a:latin typeface="Noto Sans"/>
              </a:rPr>
              <a:t>A solução já oferece uma base quantitativa para triagem. O ganho futuro virá da integração com o processo e do aprendizado com dados adicionais.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30368"/>
            <a:ext cx="4526280" cy="384048"/>
          </a:xfrm>
          <a:prstGeom prst="roundRect">
            <a:avLst>
              <a:gd name="adj" fmla="val 8000"/>
            </a:avLst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340096"/>
            <a:ext cx="41605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744600"/>
                </a:solidFill>
                <a:latin typeface="Noto Sans"/>
              </a:rPr>
              <a:t>Decisão recomendada: iniciar piloto controlado com monitoramento mensal de métricas.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